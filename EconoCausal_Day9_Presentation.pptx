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49640" y="594360"/>
            <a:ext cx="2926080" cy="914400"/>
          </a:xfrm>
          <a:prstGeom prst="roundRect">
            <a:avLst/>
          </a:prstGeom>
          <a:solidFill>
            <a:srgbClr val="2D6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281160" y="1737360"/>
            <a:ext cx="2103120" cy="914400"/>
          </a:xfrm>
          <a:prstGeom prst="roundRect">
            <a:avLst/>
          </a:prstGeom>
          <a:solidFill>
            <a:srgbClr val="23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83879" y="2880360"/>
            <a:ext cx="3200400" cy="914400"/>
          </a:xfrm>
          <a:prstGeom prst="roundRect">
            <a:avLst/>
          </a:prstGeom>
          <a:solidFill>
            <a:srgbClr val="243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0" y="4023360"/>
            <a:ext cx="2468880" cy="914400"/>
          </a:xfrm>
          <a:prstGeom prst="roundRect">
            <a:avLst/>
          </a:prstGeom>
          <a:solidFill>
            <a:srgbClr val="DEA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51206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1">
                <a:solidFill>
                  <a:srgbClr val="7ED7CC"/>
                </a:solidFill>
                <a:latin typeface="Aptos"/>
              </a:defRPr>
            </a:pPr>
            <a:r>
              <a:t>INTERNSHIP PROJECT •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583680" cy="1325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"/>
              </a:defRPr>
            </a:pPr>
            <a:r>
              <a:t>EconoCausal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670048"/>
            <a:ext cx="64008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400" b="0">
                <a:solidFill>
                  <a:srgbClr val="FFFFFF"/>
                </a:solidFill>
                <a:latin typeface="Aptos"/>
              </a:defRPr>
            </a:pPr>
            <a:r>
              <a:t>Dynamic Pricing via</a:t>
            </a:r>
            <a:br/>
            <a:r>
              <a:t>Double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41648"/>
            <a:ext cx="594360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0">
                <a:solidFill>
                  <a:srgbClr val="D2DCE8"/>
                </a:solidFill>
                <a:latin typeface="Aptos"/>
              </a:defRPr>
            </a:pPr>
            <a:r>
              <a:t>Pricing analysis • Causal inference concepts • API-based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97880"/>
            <a:ext cx="6400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B4C3D4"/>
                </a:solidFill>
                <a:latin typeface="Aptos"/>
              </a:defRPr>
            </a:pPr>
            <a:r>
              <a:t>Prepared for project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263640"/>
            <a:ext cx="10058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3657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1">
                <a:solidFill>
                  <a:srgbClr val="238E87"/>
                </a:solidFill>
                <a:latin typeface="Aptos"/>
              </a:defRPr>
            </a:pPr>
            <a:r>
              <a:t>ECONOCAUSAL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62540"/>
                </a:solidFill>
                <a:latin typeface="Aptos"/>
              </a:defRPr>
            </a:pPr>
            <a:r>
              <a:t>The business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9848"/>
            <a:ext cx="914400" cy="50292"/>
          </a:xfrm>
          <a:prstGeom prst="rect">
            <a:avLst/>
          </a:prstGeom>
          <a:solidFill>
            <a:srgbClr val="23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577840" cy="10515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300" b="1">
                <a:solidFill>
                  <a:srgbClr val="162540"/>
                </a:solidFill>
                <a:latin typeface="Aptos"/>
              </a:defRPr>
            </a:pPr>
            <a:r>
              <a:t>Discounts can change purchase behavior—but prediction alone does not prove causation.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5486400" cy="246888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B3441"/>
                </a:solidFill>
                <a:latin typeface="Aptos"/>
              </a:defRPr>
            </a:pPr>
            <a:r>
              <a:t>•  A purchase prediction estimates what may happen.</a:t>
            </a:r>
          </a:p>
          <a:p>
            <a:pPr>
              <a:spcAft>
                <a:spcPts val="1300"/>
              </a:spcAft>
              <a:defRPr sz="1600">
                <a:solidFill>
                  <a:srgbClr val="2B3441"/>
                </a:solidFill>
                <a:latin typeface="Aptos"/>
              </a:defRPr>
            </a:pPr>
            <a:r>
              <a:t>•  A causal question asks what changes because a discount is offered.</a:t>
            </a:r>
          </a:p>
          <a:p>
            <a:pPr>
              <a:spcAft>
                <a:spcPts val="1300"/>
              </a:spcAft>
              <a:defRPr sz="1600">
                <a:solidFill>
                  <a:srgbClr val="2B3441"/>
                </a:solidFill>
                <a:latin typeface="Aptos"/>
              </a:defRPr>
            </a:pPr>
            <a:r>
              <a:t>•  Pricing decisions also need scenario comparisons and transparent limitations.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554480"/>
            <a:ext cx="4800600" cy="1325880"/>
          </a:xfrm>
          <a:prstGeom prst="roundRect">
            <a:avLst/>
          </a:prstGeom>
          <a:solidFill>
            <a:srgbClr val="DEE9F7"/>
          </a:solidFill>
          <a:ln>
            <a:solidFill>
              <a:srgbClr val="DE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29400" y="1682495"/>
            <a:ext cx="54864" cy="1069848"/>
          </a:xfrm>
          <a:prstGeom prst="rect">
            <a:avLst/>
          </a:prstGeom>
          <a:solidFill>
            <a:srgbClr val="2D6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1691639"/>
            <a:ext cx="450799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62540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3992" y="2084831"/>
            <a:ext cx="4489704" cy="7040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2B3441"/>
                </a:solidFill>
                <a:latin typeface="Aptos"/>
              </a:defRPr>
            </a:pPr>
            <a:r>
              <a:t>“Who is likely to purchase?”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3154680"/>
            <a:ext cx="4800600" cy="1325880"/>
          </a:xfrm>
          <a:prstGeom prst="roundRect">
            <a:avLst/>
          </a:prstGeom>
          <a:solidFill>
            <a:srgbClr val="DCF1ED"/>
          </a:solidFill>
          <a:ln>
            <a:solidFill>
              <a:srgbClr val="DC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3282696"/>
            <a:ext cx="54864" cy="1069848"/>
          </a:xfrm>
          <a:prstGeom prst="rect">
            <a:avLst/>
          </a:prstGeom>
          <a:solidFill>
            <a:srgbClr val="23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3291840"/>
            <a:ext cx="450799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62540"/>
                </a:solidFill>
                <a:latin typeface="Aptos"/>
              </a:defRPr>
            </a:pPr>
            <a:r>
              <a:t>Causal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3992" y="3685032"/>
            <a:ext cx="4489704" cy="7040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0">
                <a:solidFill>
                  <a:srgbClr val="2B3441"/>
                </a:solidFill>
                <a:latin typeface="Aptos"/>
              </a:defRPr>
            </a:pPr>
            <a:r>
              <a:t>“How does purchase behavior change under a different discount?”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892040"/>
            <a:ext cx="466344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647182"/>
                </a:solidFill>
                <a:latin typeface="Aptos"/>
              </a:defRPr>
            </a:pPr>
            <a:r>
              <a:t>Project aim: demonstrate an analysis workflow—not claim a production-ready pricing policy.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9672"/>
            <a:ext cx="8686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647182"/>
                </a:solidFill>
                <a:latin typeface="Aptos"/>
              </a:defRPr>
            </a:pPr>
            <a:r>
              <a:t>Internship project • Synthetic-data prototype • Results are model-based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647182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3657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1">
                <a:solidFill>
                  <a:srgbClr val="238E87"/>
                </a:solidFill>
                <a:latin typeface="Aptos"/>
              </a:defRPr>
            </a:pPr>
            <a:r>
              <a:t>ECONOCAUSAL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62540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9848"/>
            <a:ext cx="914400" cy="50292"/>
          </a:xfrm>
          <a:prstGeom prst="rect">
            <a:avLst/>
          </a:prstGeom>
          <a:solidFill>
            <a:srgbClr val="23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900" b="1">
                <a:solidFill>
                  <a:srgbClr val="162540"/>
                </a:solidFill>
                <a:latin typeface="Aptos"/>
              </a:defRPr>
            </a:pPr>
            <a:r>
              <a:t>Two separate analytical components work toward different goals.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5257800" cy="2148840"/>
          </a:xfrm>
          <a:prstGeom prst="roundRect">
            <a:avLst/>
          </a:prstGeom>
          <a:solidFill>
            <a:srgbClr val="DEE9F7"/>
          </a:solidFill>
          <a:ln>
            <a:solidFill>
              <a:srgbClr val="DE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85416"/>
            <a:ext cx="54864" cy="1892808"/>
          </a:xfrm>
          <a:prstGeom prst="rect">
            <a:avLst/>
          </a:prstGeom>
          <a:solidFill>
            <a:srgbClr val="2D6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194560"/>
            <a:ext cx="496519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800" b="1">
                <a:solidFill>
                  <a:srgbClr val="162540"/>
                </a:solidFill>
                <a:latin typeface="Aptos"/>
              </a:defRPr>
            </a:pPr>
            <a:r>
              <a:t>01  DML-style estimator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587752"/>
            <a:ext cx="4946904" cy="1527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2B3441"/>
                </a:solidFill>
                <a:latin typeface="Aptos"/>
              </a:defRPr>
            </a:pPr>
            <a:r>
              <a:t>Estimates the discount–purchase relationship while accounting for observed controls:</a:t>
            </a:r>
            <a:br/>
            <a:br/>
            <a:r>
              <a:t>• price</a:t>
            </a:r>
            <a:br/>
            <a:r>
              <a:t>• competitor-to-price ratio</a:t>
            </a:r>
            <a:br/>
            <a:r>
              <a:t>• promotion</a:t>
            </a:r>
            <a:br/>
            <a:r>
              <a:t>• season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057400"/>
            <a:ext cx="5257800" cy="2148840"/>
          </a:xfrm>
          <a:prstGeom prst="roundRect">
            <a:avLst/>
          </a:prstGeom>
          <a:solidFill>
            <a:srgbClr val="DCF1ED"/>
          </a:solidFill>
          <a:ln>
            <a:solidFill>
              <a:srgbClr val="DC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2185416"/>
            <a:ext cx="54864" cy="1892808"/>
          </a:xfrm>
          <a:prstGeom prst="rect">
            <a:avLst/>
          </a:prstGeom>
          <a:solidFill>
            <a:srgbClr val="23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2194560"/>
            <a:ext cx="496519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800" b="1">
                <a:solidFill>
                  <a:srgbClr val="162540"/>
                </a:solidFill>
                <a:latin typeface="Aptos"/>
              </a:defRPr>
            </a:pPr>
            <a:r>
              <a:t>02  Discount scenario optimizer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2587752"/>
            <a:ext cx="4946904" cy="1527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2B3441"/>
                </a:solidFill>
                <a:latin typeface="Aptos"/>
              </a:defRPr>
            </a:pPr>
            <a:r>
              <a:t>Compares candidate discount levels using predicted purchase probability and estimated revenue per record.</a:t>
            </a:r>
            <a:br/>
            <a:br/>
            <a:r>
              <a:t>Objective: estimated revenue—not profit.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09160"/>
            <a:ext cx="1069848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A94B4B"/>
                </a:solidFill>
                <a:latin typeface="Aptos"/>
              </a:defRPr>
            </a:pPr>
            <a:r>
              <a:t>Important: the current optimizer is predictive. Its recommended scenario is not proof of a causal optimum or a guarantee of real-world performance.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8686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647182"/>
                </a:solidFill>
                <a:latin typeface="Aptos"/>
              </a:defRPr>
            </a:pPr>
            <a:r>
              <a:t>Internship project • Synthetic-data prototype • Results are model-based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647182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3657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1">
                <a:solidFill>
                  <a:srgbClr val="238E87"/>
                </a:solidFill>
                <a:latin typeface="Aptos"/>
              </a:defRPr>
            </a:pPr>
            <a:r>
              <a:t>ECONOCAUSAL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62540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9848"/>
            <a:ext cx="914400" cy="50292"/>
          </a:xfrm>
          <a:prstGeom prst="rect">
            <a:avLst/>
          </a:prstGeom>
          <a:solidFill>
            <a:srgbClr val="23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063240" cy="1325880"/>
          </a:xfrm>
          <a:prstGeom prst="roundRect">
            <a:avLst/>
          </a:prstGeom>
          <a:solidFill>
            <a:srgbClr val="EFF4F9"/>
          </a:solidFill>
          <a:ln>
            <a:solidFill>
              <a:srgbClr val="EFF4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36776"/>
            <a:ext cx="54864" cy="1069848"/>
          </a:xfrm>
          <a:prstGeom prst="rect">
            <a:avLst/>
          </a:prstGeom>
          <a:solidFill>
            <a:srgbClr val="2D6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645919"/>
            <a:ext cx="277063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62540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039112"/>
            <a:ext cx="2752344" cy="7040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2B3441"/>
                </a:solidFill>
                <a:latin typeface="Aptos"/>
              </a:defRPr>
            </a:pPr>
            <a:r>
              <a:t>Core implementation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508760"/>
            <a:ext cx="3063240" cy="1325880"/>
          </a:xfrm>
          <a:prstGeom prst="roundRect">
            <a:avLst/>
          </a:prstGeom>
          <a:solidFill>
            <a:srgbClr val="EFF4F9"/>
          </a:solidFill>
          <a:ln>
            <a:solidFill>
              <a:srgbClr val="EFF4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69080" y="1636776"/>
            <a:ext cx="54864" cy="1069848"/>
          </a:xfrm>
          <a:prstGeom prst="rect">
            <a:avLst/>
          </a:prstGeom>
          <a:solidFill>
            <a:srgbClr val="23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33672" y="1645919"/>
            <a:ext cx="277063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62540"/>
                </a:solidFill>
                <a:latin typeface="Aptos"/>
              </a:defRPr>
            </a:pPr>
            <a:r>
              <a:t>Pandas + NumPy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3672" y="2039112"/>
            <a:ext cx="2752344" cy="7040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2B3441"/>
                </a:solidFill>
                <a:latin typeface="Aptos"/>
              </a:defRPr>
            </a:pPr>
            <a:r>
              <a:t>Data handling and numerical 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1508760"/>
            <a:ext cx="3063240" cy="1325880"/>
          </a:xfrm>
          <a:prstGeom prst="roundRect">
            <a:avLst/>
          </a:prstGeom>
          <a:solidFill>
            <a:srgbClr val="EFF4F9"/>
          </a:solidFill>
          <a:ln>
            <a:solidFill>
              <a:srgbClr val="EFF4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636776"/>
            <a:ext cx="54864" cy="1069848"/>
          </a:xfrm>
          <a:prstGeom prst="rect">
            <a:avLst/>
          </a:prstGeom>
          <a:solidFill>
            <a:srgbClr val="DEA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16952" y="1645919"/>
            <a:ext cx="277063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62540"/>
                </a:solidFill>
                <a:latin typeface="Aptos"/>
              </a:defRPr>
            </a:pPr>
            <a:r>
              <a:t>FastAPI + Uvicorn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6952" y="2039112"/>
            <a:ext cx="2752344" cy="7040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2B3441"/>
                </a:solidFill>
                <a:latin typeface="Aptos"/>
              </a:defRPr>
            </a:pPr>
            <a:r>
              <a:t>HTTP API and local server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37560"/>
            <a:ext cx="3063240" cy="1325880"/>
          </a:xfrm>
          <a:prstGeom prst="roundRect">
            <a:avLst/>
          </a:prstGeom>
          <a:solidFill>
            <a:srgbClr val="EFF4F9"/>
          </a:solidFill>
          <a:ln>
            <a:solidFill>
              <a:srgbClr val="EFF4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465576"/>
            <a:ext cx="54864" cy="1069848"/>
          </a:xfrm>
          <a:prstGeom prst="rect">
            <a:avLst/>
          </a:prstGeom>
          <a:solidFill>
            <a:srgbClr val="23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474720"/>
            <a:ext cx="277063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62540"/>
                </a:solidFill>
                <a:latin typeface="Aptos"/>
              </a:defRPr>
            </a:pPr>
            <a:r>
              <a:t>CSV dataset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867911"/>
            <a:ext cx="2752344" cy="7040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2B3441"/>
                </a:solidFill>
                <a:latin typeface="Aptos"/>
              </a:defRPr>
            </a:pPr>
            <a:r>
              <a:t>Synthetic pricing records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69080" y="3337560"/>
            <a:ext cx="3063240" cy="1325880"/>
          </a:xfrm>
          <a:prstGeom prst="roundRect">
            <a:avLst/>
          </a:prstGeom>
          <a:solidFill>
            <a:srgbClr val="EFF4F9"/>
          </a:solidFill>
          <a:ln>
            <a:solidFill>
              <a:srgbClr val="EFF4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9080" y="3465576"/>
            <a:ext cx="54864" cy="1069848"/>
          </a:xfrm>
          <a:prstGeom prst="rect">
            <a:avLst/>
          </a:prstGeom>
          <a:solidFill>
            <a:srgbClr val="2D6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33672" y="3474720"/>
            <a:ext cx="277063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62540"/>
                </a:solidFill>
                <a:latin typeface="Aptos"/>
              </a:defRPr>
            </a:pPr>
            <a:r>
              <a:t>unittest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33672" y="3867911"/>
            <a:ext cx="2752344" cy="7040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2B3441"/>
                </a:solidFill>
                <a:latin typeface="Aptos"/>
              </a:defRPr>
            </a:pPr>
            <a:r>
              <a:t>Automated model and API tests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52360" y="3337560"/>
            <a:ext cx="3063240" cy="1325880"/>
          </a:xfrm>
          <a:prstGeom prst="roundRect">
            <a:avLst/>
          </a:prstGeom>
          <a:solidFill>
            <a:srgbClr val="EFF4F9"/>
          </a:solidFill>
          <a:ln>
            <a:solidFill>
              <a:srgbClr val="EFF4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52360" y="3465576"/>
            <a:ext cx="54864" cy="1069848"/>
          </a:xfrm>
          <a:prstGeom prst="rect">
            <a:avLst/>
          </a:prstGeom>
          <a:solidFill>
            <a:srgbClr val="DEA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16952" y="3474720"/>
            <a:ext cx="277063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62540"/>
                </a:solidFill>
                <a:latin typeface="Aptos"/>
              </a:defRPr>
            </a:pPr>
            <a:r>
              <a:t>Git + GitHub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16952" y="3867911"/>
            <a:ext cx="2752344" cy="7040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2B3441"/>
                </a:solidFill>
                <a:latin typeface="Aptos"/>
              </a:defRPr>
            </a:pPr>
            <a:r>
              <a:t>Version control and collaboration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257800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647182"/>
                </a:solidFill>
                <a:latin typeface="Aptos"/>
              </a:defRPr>
            </a:pPr>
            <a:r>
              <a:t>API documentation is available interactively through Swagger UI at /docs when the local server is running.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9672"/>
            <a:ext cx="8686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647182"/>
                </a:solidFill>
                <a:latin typeface="Aptos"/>
              </a:defRPr>
            </a:pPr>
            <a:r>
              <a:t>Internship project • Synthetic-data prototype • Results are model-based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647182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3657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1">
                <a:solidFill>
                  <a:srgbClr val="238E87"/>
                </a:solidFill>
                <a:latin typeface="Aptos"/>
              </a:defRPr>
            </a:pPr>
            <a:r>
              <a:t>ECONOCAUSAL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62540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9848"/>
            <a:ext cx="914400" cy="50292"/>
          </a:xfrm>
          <a:prstGeom prst="rect">
            <a:avLst/>
          </a:prstGeom>
          <a:solidFill>
            <a:srgbClr val="23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743200" cy="914400"/>
          </a:xfrm>
          <a:prstGeom prst="roundRect">
            <a:avLst/>
          </a:prstGeom>
          <a:solidFill>
            <a:srgbClr val="DEE9F7"/>
          </a:solidFill>
          <a:ln>
            <a:solidFill>
              <a:srgbClr val="DE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45336"/>
            <a:ext cx="54864" cy="658368"/>
          </a:xfrm>
          <a:prstGeom prst="rect">
            <a:avLst/>
          </a:prstGeom>
          <a:solidFill>
            <a:srgbClr val="2D6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554480"/>
            <a:ext cx="245059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1">
                <a:solidFill>
                  <a:srgbClr val="162540"/>
                </a:solidFill>
                <a:latin typeface="Aptos"/>
              </a:defRPr>
            </a:pPr>
            <a:r>
              <a:t>Data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947672"/>
            <a:ext cx="2432304" cy="2926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0">
                <a:solidFill>
                  <a:srgbClr val="2B3441"/>
                </a:solidFill>
                <a:latin typeface="Aptos"/>
              </a:defRPr>
            </a:pPr>
            <a:r>
              <a:t>data/pricing_data.csv</a:t>
            </a:r>
            <a:br/>
            <a:r>
              <a:t>2,000 synthetic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417320"/>
            <a:ext cx="2743200" cy="914400"/>
          </a:xfrm>
          <a:prstGeom prst="roundRect">
            <a:avLst/>
          </a:prstGeom>
          <a:solidFill>
            <a:srgbClr val="DCF1ED"/>
          </a:solidFill>
          <a:ln>
            <a:solidFill>
              <a:srgbClr val="DC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60" y="1545336"/>
            <a:ext cx="54864" cy="658368"/>
          </a:xfrm>
          <a:prstGeom prst="rect">
            <a:avLst/>
          </a:prstGeom>
          <a:solidFill>
            <a:srgbClr val="23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3752" y="1554480"/>
            <a:ext cx="245059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1">
                <a:solidFill>
                  <a:srgbClr val="162540"/>
                </a:solidFill>
                <a:latin typeface="Aptos"/>
              </a:defRPr>
            </a:pPr>
            <a:r>
              <a:t>Analysis modules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2" y="1947672"/>
            <a:ext cx="2432304" cy="2926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0">
                <a:solidFill>
                  <a:srgbClr val="2B3441"/>
                </a:solidFill>
                <a:latin typeface="Aptos"/>
              </a:defRPr>
            </a:pPr>
            <a:r>
              <a:t>dml_model.py</a:t>
            </a:r>
            <a:br/>
            <a:r>
              <a:t> discount_optimizer.py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417320"/>
            <a:ext cx="2743200" cy="914400"/>
          </a:xfrm>
          <a:prstGeom prst="roundRect">
            <a:avLst/>
          </a:prstGeom>
          <a:solidFill>
            <a:srgbClr val="EFF4F9"/>
          </a:solidFill>
          <a:ln>
            <a:solidFill>
              <a:srgbClr val="EFF4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23960" y="1545336"/>
            <a:ext cx="54864" cy="658368"/>
          </a:xfrm>
          <a:prstGeom prst="rect">
            <a:avLst/>
          </a:prstGeom>
          <a:solidFill>
            <a:srgbClr val="DEA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88552" y="1554480"/>
            <a:ext cx="245059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1">
                <a:solidFill>
                  <a:srgbClr val="162540"/>
                </a:solidFill>
                <a:latin typeface="Aptos"/>
              </a:defRPr>
            </a:pPr>
            <a:r>
              <a:t>API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8552" y="1947672"/>
            <a:ext cx="2432304" cy="2926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0">
                <a:solidFill>
                  <a:srgbClr val="2B3441"/>
                </a:solidFill>
                <a:latin typeface="Aptos"/>
              </a:defRPr>
            </a:pPr>
            <a:r>
              <a:t>app/main.py</a:t>
            </a:r>
            <a:br/>
            <a:r>
              <a:t>FastAPI endpoints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383280" y="1874519"/>
            <a:ext cx="1188720" cy="0"/>
          </a:xfrm>
          <a:prstGeom prst="line">
            <a:avLst/>
          </a:prstGeom>
          <a:ln w="25400">
            <a:solidFill>
              <a:srgbClr val="238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98079" y="1874519"/>
            <a:ext cx="1188721" cy="0"/>
          </a:xfrm>
          <a:prstGeom prst="line">
            <a:avLst/>
          </a:prstGeom>
          <a:ln w="25400">
            <a:solidFill>
              <a:srgbClr val="238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325880" y="3337560"/>
            <a:ext cx="3840480" cy="1051560"/>
          </a:xfrm>
          <a:prstGeom prst="roundRect">
            <a:avLst/>
          </a:prstGeom>
          <a:solidFill>
            <a:srgbClr val="EFF4F9"/>
          </a:solidFill>
          <a:ln>
            <a:solidFill>
              <a:srgbClr val="EFF4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25880" y="3465576"/>
            <a:ext cx="54864" cy="795527"/>
          </a:xfrm>
          <a:prstGeom prst="rect">
            <a:avLst/>
          </a:prstGeom>
          <a:solidFill>
            <a:srgbClr val="2D6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90472" y="3474720"/>
            <a:ext cx="354787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62540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0472" y="3867911"/>
            <a:ext cx="3529584" cy="4297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2B3441"/>
                </a:solidFill>
                <a:latin typeface="Aptos"/>
              </a:defRPr>
            </a:pPr>
            <a:r>
              <a:t>test_dml_model.py • test_api.py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95160" y="3337560"/>
            <a:ext cx="3840480" cy="1051560"/>
          </a:xfrm>
          <a:prstGeom prst="roundRect">
            <a:avLst/>
          </a:prstGeom>
          <a:solidFill>
            <a:srgbClr val="EFF4F9"/>
          </a:solidFill>
          <a:ln>
            <a:solidFill>
              <a:srgbClr val="EFF4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95160" y="3465576"/>
            <a:ext cx="54864" cy="795527"/>
          </a:xfrm>
          <a:prstGeom prst="rect">
            <a:avLst/>
          </a:prstGeom>
          <a:solidFill>
            <a:srgbClr val="23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59752" y="3474720"/>
            <a:ext cx="354787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62540"/>
                </a:solidFill>
                <a:latin typeface="Aptos"/>
              </a:defRPr>
            </a:pPr>
            <a:r>
              <a:t>Demo interface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9752" y="3867911"/>
            <a:ext cx="3529584" cy="4297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2B3441"/>
                </a:solidFill>
                <a:latin typeface="Aptos"/>
              </a:defRPr>
            </a:pPr>
            <a:r>
              <a:t>Browser / API client • /docs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9144000" y="2423160"/>
            <a:ext cx="868680" cy="822960"/>
          </a:xfrm>
          <a:prstGeom prst="line">
            <a:avLst/>
          </a:prstGeom>
          <a:ln w="19050">
            <a:solidFill>
              <a:srgbClr val="647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1520" y="4983480"/>
            <a:ext cx="106984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647182"/>
                </a:solidFill>
                <a:latin typeface="Aptos"/>
              </a:defRPr>
            </a:pPr>
            <a:r>
              <a:t>Conceptual architecture. Exact runtime integration should be described according to the current code and endpoint implementation.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9672"/>
            <a:ext cx="8686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647182"/>
                </a:solidFill>
                <a:latin typeface="Aptos"/>
              </a:defRPr>
            </a:pPr>
            <a:r>
              <a:t>Internship project • Synthetic-data prototype • Results are model-based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647182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3657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1">
                <a:solidFill>
                  <a:srgbClr val="238E87"/>
                </a:solidFill>
                <a:latin typeface="Aptos"/>
              </a:defRPr>
            </a:pPr>
            <a:r>
              <a:t>ECONOCAUSAL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62540"/>
                </a:solidFill>
                <a:latin typeface="Aptos"/>
              </a:defRPr>
            </a:pPr>
            <a:r>
              <a:t>Results from the current prototype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9848"/>
            <a:ext cx="914400" cy="50292"/>
          </a:xfrm>
          <a:prstGeom prst="rect">
            <a:avLst/>
          </a:prstGeom>
          <a:solidFill>
            <a:srgbClr val="23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514600" cy="1234440"/>
          </a:xfrm>
          <a:prstGeom prst="roundRect">
            <a:avLst/>
          </a:prstGeom>
          <a:solidFill>
            <a:srgbClr val="EFF4F9"/>
          </a:solidFill>
          <a:ln>
            <a:solidFill>
              <a:srgbClr val="EFF4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45336"/>
            <a:ext cx="2295144" cy="5120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700" b="1">
                <a:solidFill>
                  <a:srgbClr val="2D62AA"/>
                </a:solidFill>
                <a:latin typeface="Aptos"/>
              </a:defRPr>
            </a:pPr>
            <a:r>
              <a:t>2,000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130552"/>
            <a:ext cx="22951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0">
                <a:solidFill>
                  <a:srgbClr val="647182"/>
                </a:solidFill>
                <a:latin typeface="Aptos"/>
              </a:defRPr>
            </a:pPr>
            <a:r>
              <a:t>synthetic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17320"/>
            <a:ext cx="2514600" cy="1234440"/>
          </a:xfrm>
          <a:prstGeom prst="roundRect">
            <a:avLst/>
          </a:prstGeom>
          <a:solidFill>
            <a:srgbClr val="EFF4F9"/>
          </a:solidFill>
          <a:ln>
            <a:solidFill>
              <a:srgbClr val="EFF4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1545336"/>
            <a:ext cx="2295144" cy="5120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700" b="1">
                <a:solidFill>
                  <a:srgbClr val="238E8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2130552"/>
            <a:ext cx="22951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0">
                <a:solidFill>
                  <a:srgbClr val="647182"/>
                </a:solidFill>
                <a:latin typeface="Aptos"/>
              </a:defRPr>
            </a:pPr>
            <a:r>
              <a:t>dataset columns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2514600" cy="1234440"/>
          </a:xfrm>
          <a:prstGeom prst="roundRect">
            <a:avLst/>
          </a:prstGeom>
          <a:solidFill>
            <a:srgbClr val="EFF4F9"/>
          </a:solidFill>
          <a:ln>
            <a:solidFill>
              <a:srgbClr val="EFF4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1545336"/>
            <a:ext cx="2295144" cy="5120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700" b="1">
                <a:solidFill>
                  <a:srgbClr val="DEA43D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2130552"/>
            <a:ext cx="22951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0">
                <a:solidFill>
                  <a:srgbClr val="647182"/>
                </a:solidFill>
                <a:latin typeface="Aptos"/>
              </a:defRPr>
            </a:pPr>
            <a:r>
              <a:t>discount scenarios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417320"/>
            <a:ext cx="2514600" cy="1234440"/>
          </a:xfrm>
          <a:prstGeom prst="roundRect">
            <a:avLst/>
          </a:prstGeom>
          <a:solidFill>
            <a:srgbClr val="EFF4F9"/>
          </a:solidFill>
          <a:ln>
            <a:solidFill>
              <a:srgbClr val="EFF4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25128" y="1545336"/>
            <a:ext cx="2295144" cy="5120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700" b="1">
                <a:solidFill>
                  <a:srgbClr val="2D62AA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25128" y="2130552"/>
            <a:ext cx="229514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0">
                <a:solidFill>
                  <a:srgbClr val="647182"/>
                </a:solidFill>
                <a:latin typeface="Aptos"/>
              </a:defRPr>
            </a:pPr>
            <a:r>
              <a:t>missing values*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154680"/>
            <a:ext cx="5120640" cy="1417320"/>
          </a:xfrm>
          <a:prstGeom prst="roundRect">
            <a:avLst/>
          </a:prstGeom>
          <a:solidFill>
            <a:srgbClr val="DCF1ED"/>
          </a:solidFill>
          <a:ln>
            <a:solidFill>
              <a:srgbClr val="DC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282696"/>
            <a:ext cx="54864" cy="1161288"/>
          </a:xfrm>
          <a:prstGeom prst="rect">
            <a:avLst/>
          </a:prstGeom>
          <a:solidFill>
            <a:srgbClr val="23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291840"/>
            <a:ext cx="4828031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62540"/>
                </a:solidFill>
                <a:latin typeface="Aptos"/>
              </a:defRPr>
            </a:pPr>
            <a:r>
              <a:t>Current optimizer recommendation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3685032"/>
            <a:ext cx="4809744" cy="7955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2B3441"/>
                </a:solidFill>
                <a:latin typeface="Aptos"/>
              </a:defRPr>
            </a:pPr>
            <a:r>
              <a:t>26% discount • predicted purchase probability ≈ 26.64%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154680"/>
            <a:ext cx="5120640" cy="1417320"/>
          </a:xfrm>
          <a:prstGeom prst="roundRect">
            <a:avLst/>
          </a:prstGeom>
          <a:solidFill>
            <a:srgbClr val="DEE9F7"/>
          </a:solidFill>
          <a:ln>
            <a:solidFill>
              <a:srgbClr val="DE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282696"/>
            <a:ext cx="54864" cy="1161288"/>
          </a:xfrm>
          <a:prstGeom prst="rect">
            <a:avLst/>
          </a:prstGeom>
          <a:solidFill>
            <a:srgbClr val="2D6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1" y="3291840"/>
            <a:ext cx="4828031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62540"/>
                </a:solidFill>
                <a:latin typeface="Aptos"/>
              </a:defRPr>
            </a:pPr>
            <a:r>
              <a:t>Estimated revenue per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1" y="3685032"/>
            <a:ext cx="4809744" cy="7955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B3441"/>
                </a:solidFill>
                <a:latin typeface="Aptos"/>
              </a:defRPr>
            </a:pPr>
            <a:r>
              <a:t>≈ 89.14 in the dataset's monetary units</a:t>
            </a:r>
            <a:br/>
            <a:r>
              <a:t>Not profit; costs and margins are not included.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074920"/>
            <a:ext cx="1078992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A94B4B"/>
                </a:solidFill>
                <a:latin typeface="Aptos"/>
              </a:defRPr>
            </a:pPr>
            <a:r>
              <a:t>*Zero missing values was recorded in the latest validation. Figures use synthetic data and are model-based; they are not real-world performance claims.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9672"/>
            <a:ext cx="8686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647182"/>
                </a:solidFill>
                <a:latin typeface="Aptos"/>
              </a:defRPr>
            </a:pPr>
            <a:r>
              <a:t>Internship project • Synthetic-data prototype • Results are model-based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647182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3657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1">
                <a:solidFill>
                  <a:srgbClr val="238E87"/>
                </a:solidFill>
                <a:latin typeface="Aptos"/>
              </a:defRPr>
            </a:pPr>
            <a:r>
              <a:t>ECONOCAUSAL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62540"/>
                </a:solidFill>
                <a:latin typeface="Aptos"/>
              </a:defRPr>
            </a:pPr>
            <a:r>
              <a:t>Validation and 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9848"/>
            <a:ext cx="914400" cy="50292"/>
          </a:xfrm>
          <a:prstGeom prst="rect">
            <a:avLst/>
          </a:prstGeom>
          <a:solidFill>
            <a:srgbClr val="23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20640" cy="1143000"/>
          </a:xfrm>
          <a:prstGeom prst="roundRect">
            <a:avLst/>
          </a:prstGeom>
          <a:solidFill>
            <a:srgbClr val="DCF1ED"/>
          </a:solidFill>
          <a:ln>
            <a:solidFill>
              <a:srgbClr val="DC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45336"/>
            <a:ext cx="54864" cy="886968"/>
          </a:xfrm>
          <a:prstGeom prst="rect">
            <a:avLst/>
          </a:prstGeom>
          <a:solidFill>
            <a:srgbClr val="23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54480"/>
            <a:ext cx="4828031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62540"/>
                </a:solidFill>
                <a:latin typeface="Aptos"/>
              </a:defRPr>
            </a:pPr>
            <a:r>
              <a:t>Automated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47672"/>
            <a:ext cx="4809744" cy="5212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2B3441"/>
                </a:solidFill>
                <a:latin typeface="Aptos"/>
              </a:defRPr>
            </a:pPr>
            <a:r>
              <a:t>Six tests passed in the latest recorded validation.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4937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62540"/>
                </a:solidFill>
                <a:latin typeface="Aptos"/>
              </a:defRPr>
            </a:pPr>
            <a:r>
              <a:t>Demo sequence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4937760" cy="182880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B3441"/>
                </a:solidFill>
                <a:latin typeface="Aptos"/>
              </a:defRPr>
            </a:pPr>
            <a:r>
              <a:t>•  Start the API server</a:t>
            </a:r>
          </a:p>
          <a:p>
            <a:pPr>
              <a:spcAft>
                <a:spcPts val="900"/>
              </a:spcAft>
              <a:defRPr sz="1400">
                <a:solidFill>
                  <a:srgbClr val="2B3441"/>
                </a:solidFill>
                <a:latin typeface="Aptos"/>
              </a:defRPr>
            </a:pPr>
            <a:r>
              <a:t>•  Open Swagger UI at http://127.0.0.1:8000/docs</a:t>
            </a:r>
          </a:p>
          <a:p>
            <a:pPr>
              <a:spcAft>
                <a:spcPts val="900"/>
              </a:spcAft>
              <a:defRPr sz="1400">
                <a:solidFill>
                  <a:srgbClr val="2B3441"/>
                </a:solidFill>
                <a:latin typeface="Aptos"/>
              </a:defRPr>
            </a:pPr>
            <a:r>
              <a:t>•  Try health, summary, preview, and recommendation endpoints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120640" cy="1051560"/>
          </a:xfrm>
          <a:prstGeom prst="roundRect">
            <a:avLst/>
          </a:prstGeom>
          <a:solidFill>
            <a:srgbClr val="EFF4F9"/>
          </a:solidFill>
          <a:ln>
            <a:solidFill>
              <a:srgbClr val="EFF4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45336"/>
            <a:ext cx="54864" cy="795527"/>
          </a:xfrm>
          <a:prstGeom prst="rect">
            <a:avLst/>
          </a:prstGeom>
          <a:solidFill>
            <a:srgbClr val="2D6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554480"/>
            <a:ext cx="4828031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62540"/>
                </a:solidFill>
                <a:latin typeface="Aptos"/>
              </a:defRPr>
            </a:pPr>
            <a:r>
              <a:t>Start command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1947672"/>
            <a:ext cx="4809744" cy="4297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B3441"/>
                </a:solidFill>
                <a:latin typeface="Aptos"/>
              </a:defRPr>
            </a:pPr>
            <a:r>
              <a:t>python -m uvicorn app.main:app --reload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743200"/>
            <a:ext cx="5120640" cy="1051560"/>
          </a:xfrm>
          <a:prstGeom prst="roundRect">
            <a:avLst/>
          </a:prstGeom>
          <a:solidFill>
            <a:srgbClr val="DEE9F7"/>
          </a:solidFill>
          <a:ln>
            <a:solidFill>
              <a:srgbClr val="DE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871216"/>
            <a:ext cx="54864" cy="795527"/>
          </a:xfrm>
          <a:prstGeom prst="rect">
            <a:avLst/>
          </a:prstGeom>
          <a:solidFill>
            <a:srgbClr val="2D6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1" y="2880360"/>
            <a:ext cx="4828031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62540"/>
                </a:solidFill>
                <a:latin typeface="Aptos"/>
              </a:defRPr>
            </a:pPr>
            <a:r>
              <a:t>Health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3273552"/>
            <a:ext cx="4809744" cy="4297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B3441"/>
                </a:solidFill>
                <a:latin typeface="Aptos"/>
              </a:defRPr>
            </a:pPr>
            <a:r>
              <a:t>GET /health  →  {"status": "ok"}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069080"/>
            <a:ext cx="5120640" cy="1051560"/>
          </a:xfrm>
          <a:prstGeom prst="roundRect">
            <a:avLst/>
          </a:prstGeom>
          <a:solidFill>
            <a:srgbClr val="DCF1ED"/>
          </a:solidFill>
          <a:ln>
            <a:solidFill>
              <a:srgbClr val="DC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4197096"/>
            <a:ext cx="54864" cy="795527"/>
          </a:xfrm>
          <a:prstGeom prst="rect">
            <a:avLst/>
          </a:prstGeom>
          <a:solidFill>
            <a:srgbClr val="23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1" y="4206240"/>
            <a:ext cx="4828031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62540"/>
                </a:solidFill>
                <a:latin typeface="Aptos"/>
              </a:defRPr>
            </a:pPr>
            <a:r>
              <a:t>Other endpoints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1" y="4599432"/>
            <a:ext cx="4809744" cy="4297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2B3441"/>
                </a:solidFill>
                <a:latin typeface="Aptos"/>
              </a:defRPr>
            </a:pPr>
            <a:r>
              <a:t>GET /data/summary • /data/preview</a:t>
            </a:r>
            <a:br/>
            <a:r>
              <a:t>GET /discount/recommendation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9672"/>
            <a:ext cx="8686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647182"/>
                </a:solidFill>
                <a:latin typeface="Aptos"/>
              </a:defRPr>
            </a:pPr>
            <a:r>
              <a:t>Internship project • Synthetic-data prototype • Results are model-based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647182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3657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1">
                <a:solidFill>
                  <a:srgbClr val="238E87"/>
                </a:solidFill>
                <a:latin typeface="Aptos"/>
              </a:defRPr>
            </a:pPr>
            <a:r>
              <a:t>ECONOCAUSAL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62540"/>
                </a:solidFill>
                <a:latin typeface="Aptos"/>
              </a:defRPr>
            </a:pPr>
            <a:r>
              <a:t>Limitations, next steps, and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69848"/>
            <a:ext cx="914400" cy="50292"/>
          </a:xfrm>
          <a:prstGeom prst="rect">
            <a:avLst/>
          </a:prstGeom>
          <a:solidFill>
            <a:srgbClr val="23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303520" cy="2240280"/>
          </a:xfrm>
          <a:prstGeom prst="roundRect">
            <a:avLst/>
          </a:prstGeom>
          <a:solidFill>
            <a:srgbClr val="EFF4F9"/>
          </a:solidFill>
          <a:ln>
            <a:solidFill>
              <a:srgbClr val="EFF4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45336"/>
            <a:ext cx="54864" cy="1984248"/>
          </a:xfrm>
          <a:prstGeom prst="rect">
            <a:avLst/>
          </a:prstGeom>
          <a:solidFill>
            <a:srgbClr val="A9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54480"/>
            <a:ext cx="501091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62540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47672"/>
            <a:ext cx="4992624" cy="1618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B3441"/>
                </a:solidFill>
                <a:latin typeface="Aptos"/>
              </a:defRPr>
            </a:pPr>
            <a:r>
              <a:t>• Synthetic dataset, not real customer data</a:t>
            </a:r>
            <a:br/>
            <a:r>
              <a:t>• Causal interpretation depends on assumptions</a:t>
            </a:r>
            <a:br/>
            <a:r>
              <a:t>• Revenue objective excludes costs and profit margins</a:t>
            </a:r>
            <a:br/>
            <a:r>
              <a:t>• Real-world performance has not been established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03520" cy="2240280"/>
          </a:xfrm>
          <a:prstGeom prst="roundRect">
            <a:avLst/>
          </a:prstGeom>
          <a:solidFill>
            <a:srgbClr val="DCF1ED"/>
          </a:solidFill>
          <a:ln>
            <a:solidFill>
              <a:srgbClr val="DC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545336"/>
            <a:ext cx="54864" cy="1984248"/>
          </a:xfrm>
          <a:prstGeom prst="rect">
            <a:avLst/>
          </a:prstGeom>
          <a:solidFill>
            <a:srgbClr val="23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554480"/>
            <a:ext cx="501091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62540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1947672"/>
            <a:ext cx="4992624" cy="1618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B3441"/>
                </a:solidFill>
                <a:latin typeface="Aptos"/>
              </a:defRPr>
            </a:pPr>
            <a:r>
              <a:t>• Improve causal and model validation</a:t>
            </a:r>
            <a:br/>
            <a:r>
              <a:t>• Evaluate suitable real-world data when available</a:t>
            </a:r>
            <a:br/>
            <a:r>
              <a:t>• Add profit-aware optimization</a:t>
            </a:r>
            <a:br/>
            <a:r>
              <a:t>• Expand edge-case tests and input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1060704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800" b="1">
                <a:solidFill>
                  <a:srgbClr val="162540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10607040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0">
                <a:solidFill>
                  <a:srgbClr val="2B3441"/>
                </a:solidFill>
                <a:latin typeface="Aptos"/>
              </a:defRPr>
            </a:pPr>
            <a:r>
              <a:t>EconoCausal demonstrates an end-to-end prototype combining pricing data analysis, a DML-style estimator, scenario comparison, a FastAPI backend, and automated tests. Further validation is required before real business use.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106070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238E87"/>
                </a:solidFill>
                <a:latin typeface="Aptos"/>
              </a:defRPr>
            </a:pPr>
            <a:r>
              <a:t>Thank you • Questions?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9672"/>
            <a:ext cx="8686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647182"/>
                </a:solidFill>
                <a:latin typeface="Aptos"/>
              </a:defRPr>
            </a:pPr>
            <a:r>
              <a:t>Internship project • Synthetic-data prototype • Results are model-based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647182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EconoCausal — Dynamic Pricing via Double Machine Learning</dc:title>
  <dc:subject>Day 9 internship project presentation</dc:subject>
  <dc:creator>EconoCausal Project Team</dc:creator>
  <cp:keywords>dynamic pricing, Double Machine Learning, FastAPI, causal inference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